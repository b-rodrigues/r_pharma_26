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b-rodrigues.github.io/r_pharma_26" TargetMode="External" /><Relationship Id="rId3" Type="http://schemas.openxmlformats.org/officeDocument/2006/relationships/hyperlink" Target="https://github.com/b-rodrigues/r_pharma_26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ropensci.org/rix/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b-rodrigues/rix_paper/tree/master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b-rodrigues/rixpress" TargetMode="External" /><Relationship Id="rId3" Type="http://schemas.openxmlformats.org/officeDocument/2006/relationships/hyperlink" Target="https://b-rodrigues.github.io/rixpress/" TargetMode="External" /><Relationship Id="rId4" Type="http://schemas.openxmlformats.org/officeDocument/2006/relationships/hyperlink" Target="https://github.com/b-rodrigues/rixpress_demos" TargetMode="Externa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b-rodrigues/t_demos/tree/master/r_py_xgboost_t" TargetMode="Externa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x.com/brodriguesco" TargetMode="External" /><Relationship Id="rId3" Type="http://schemas.openxmlformats.org/officeDocument/2006/relationships/hyperlink" Target="https://fosstodon.org/@brodriguesco" TargetMode="External" /><Relationship Id="rId4" Type="http://schemas.openxmlformats.org/officeDocument/2006/relationships/hyperlink" Target="https://brodrigues.co/" TargetMode="External" /><Relationship Id="rId5" Type="http://schemas.openxmlformats.org/officeDocument/2006/relationships/hyperlink" Target="https://raps-with-r.dev/" TargetMode="External" /><Relationship Id="rId6" Type="http://schemas.openxmlformats.org/officeDocument/2006/relationships/hyperlink" Target="https://docs.ropensci.org/rix" TargetMode="External" /><Relationship Id="rId7" Type="http://schemas.openxmlformats.org/officeDocument/2006/relationships/hyperlink" Target="https://b-rodrigues.github.io/rixpress/" TargetMode="External" /><Relationship Id="rId8" Type="http://schemas.openxmlformats.org/officeDocument/2006/relationships/hyperlink" Target="https://tstats-project.org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Practical Introduction to Reproducible R with Nix &amp; rix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R/Pharma 2026 Workshop (Sep 28 – Oct 1) • Conference: Oct 20 – 21</a:t>
            </a:r>
            <a:br/>
            <a:br/>
            <a:r>
              <a:rPr/>
              <a:t>Bruno Rodrigues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2026-10-01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Who am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Bruno Rodrigues, head of the statistics department at the Ministry of Research and Higher Education in Luxembourg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Luxembourg?</a:t>
            </a:r>
          </a:p>
        </p:txBody>
      </p:sp>
      <p:pic>
        <p:nvPicPr>
          <p:cNvPr descr="img/luxembour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82296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Luxembourg?</a:t>
            </a:r>
          </a:p>
        </p:txBody>
      </p:sp>
      <p:pic>
        <p:nvPicPr>
          <p:cNvPr descr="img/luxembourg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82296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Luxembourg?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Sole Grand-Duchy in the World</a:t>
            </a:r>
          </a:p>
          <a:p>
            <a:pPr lvl="0"/>
            <a:r>
              <a:rPr/>
              <a:t>3 official languages (Luxembourguish, German, French)</a:t>
            </a:r>
          </a:p>
          <a:p>
            <a:pPr lvl="0"/>
            <a:r>
              <a:rPr/>
              <a:t>A founder of the European Union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Intro: Luxembourg?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The US and Luxembourg are good friends</a:t>
            </a:r>
          </a:p>
          <a:p>
            <a:pPr lvl="0"/>
            <a:r>
              <a:rPr/>
              <a:t>19th and 20th century, lots of immigration</a:t>
            </a:r>
          </a:p>
          <a:p>
            <a:pPr lvl="0"/>
            <a:r>
              <a:rPr/>
              <a:t>One of my dreams is to visit Luxembourg (WI)</a:t>
            </a:r>
          </a:p>
          <a:p>
            <a:pPr lvl="0" indent="0" marL="0">
              <a:buNone/>
            </a:pPr>
            <a:r>
              <a:rPr/>
              <a:t>. . .</a:t>
            </a:r>
          </a:p>
        </p:txBody>
      </p:sp>
      <p:pic>
        <p:nvPicPr>
          <p:cNvPr descr="img/luxembourg-w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04800"/>
            <a:ext cx="5105400" cy="417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Intro: Luxembourg?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The USA liberated Luxembourg from the Nazis in 1944 (September 10th)</a:t>
            </a:r>
          </a:p>
          <a:p>
            <a:pPr lvl="0"/>
            <a:r>
              <a:rPr/>
              <a:t>René Arend, a luxembourguish chef invented the McNugget and McRib (so I’d say we’re even)</a:t>
            </a:r>
          </a:p>
          <a:p>
            <a:pPr lvl="0" indent="0" marL="0">
              <a:buNone/>
            </a:pPr>
            <a:r>
              <a:rPr/>
              <a:t>. . .</a:t>
            </a:r>
          </a:p>
        </p:txBody>
      </p:sp>
      <p:pic>
        <p:nvPicPr>
          <p:cNvPr descr="img/rene_arend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68800" y="203200"/>
            <a:ext cx="35052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where to find the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available online: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https://b-rodrigues.github.io/r_pharma_26</a:t>
            </a:r>
          </a:p>
          <a:p>
            <a:pPr lvl="0" indent="0" marL="0">
              <a:buNone/>
            </a:pPr>
            <a:r>
              <a:rPr/>
              <a:t>Code available here: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https://github.com/b-rodrigues/r_pharma_26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I’ll be talking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reproducibility challenge in R (and limits of </a:t>
            </a:r>
            <a:r>
              <a:rPr>
                <a:latin typeface="Courier"/>
              </a:rPr>
              <a:t>{renv}</a:t>
            </a:r>
            <a:r>
              <a:rPr/>
              <a:t> &amp; Docker)</a:t>
            </a:r>
          </a:p>
          <a:p>
            <a:pPr lvl="0"/>
            <a:r>
              <a:rPr/>
              <a:t>Introduction to the Nix package manager</a:t>
            </a:r>
          </a:p>
          <a:p>
            <a:pPr lvl="0"/>
            <a:r>
              <a:rPr>
                <a:latin typeface="Courier"/>
              </a:rPr>
              <a:t>{rix}</a:t>
            </a:r>
            <a:r>
              <a:rPr/>
              <a:t>: generating declarative, reproducible R environments</a:t>
            </a:r>
          </a:p>
          <a:p>
            <a:pPr lvl="0"/>
            <a:r>
              <a:rPr/>
              <a:t>Interactive workflows (RStudio, Positron, VS Code)</a:t>
            </a:r>
          </a:p>
          <a:p>
            <a:pPr lvl="0"/>
            <a:r>
              <a:rPr/>
              <a:t>Production pipelines with </a:t>
            </a:r>
            <a:r>
              <a:rPr>
                <a:latin typeface="Courier"/>
              </a:rPr>
              <a:t>{targets}</a:t>
            </a:r>
            <a:r>
              <a:rPr/>
              <a:t> and Nix</a:t>
            </a:r>
          </a:p>
          <a:p>
            <a:pPr lvl="0"/>
            <a:r>
              <a:rPr/>
              <a:t>Nix in production: Docker, Shiny, and GitHub Actions</a:t>
            </a:r>
          </a:p>
          <a:p>
            <a:pPr lvl="0"/>
            <a:r>
              <a:rPr/>
              <a:t>Polyglot pipelines with </a:t>
            </a:r>
            <a:r>
              <a:rPr>
                <a:latin typeface="Courier"/>
              </a:rPr>
              <a:t>{rixpress}</a:t>
            </a:r>
          </a:p>
          <a:p>
            <a:pPr lvl="0"/>
            <a:r>
              <a:rPr b="1"/>
              <a:t>Bonus (if time allows)</a:t>
            </a:r>
            <a:r>
              <a:rPr/>
              <a:t>: A peek at </a:t>
            </a:r>
            <a:r>
              <a:rPr b="1"/>
              <a:t>T</a:t>
            </a:r>
            <a:r>
              <a:rPr/>
              <a:t>, a language reproducible by design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Available solutions for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{renv}</a:t>
            </a:r>
            <a:r>
              <a:rPr/>
              <a:t> or </a:t>
            </a:r>
            <a:r>
              <a:rPr>
                <a:latin typeface="Courier"/>
              </a:rPr>
              <a:t>{groundhog}</a:t>
            </a:r>
            <a:r>
              <a:rPr/>
              <a:t>: simple to use, but:</a:t>
            </a:r>
          </a:p>
          <a:p>
            <a:pPr lvl="1"/>
            <a:r>
              <a:rPr/>
              <a:t>Doesn’t save the R version</a:t>
            </a:r>
          </a:p>
          <a:p>
            <a:pPr lvl="1"/>
            <a:r>
              <a:rPr/>
              <a:t>Installing old packages may fail (system dependencies)</a:t>
            </a:r>
          </a:p>
          <a:p>
            <a:pPr lvl="0"/>
            <a:r>
              <a:rPr/>
              <a:t>Docker goes further:</a:t>
            </a:r>
          </a:p>
          <a:p>
            <a:pPr lvl="1"/>
            <a:r>
              <a:rPr/>
              <a:t>Manages R </a:t>
            </a:r>
            <a:r>
              <a:rPr i="1"/>
              <a:t>and</a:t>
            </a:r>
            <a:r>
              <a:rPr/>
              <a:t> system dependencies</a:t>
            </a:r>
          </a:p>
          <a:p>
            <a:pPr lvl="1"/>
            <a:r>
              <a:rPr/>
              <a:t>Containers executable anywhere</a:t>
            </a:r>
          </a:p>
          <a:p>
            <a:pPr lvl="0"/>
            <a:r>
              <a:rPr/>
              <a:t>But:</a:t>
            </a:r>
          </a:p>
          <a:p>
            <a:pPr lvl="1"/>
            <a:r>
              <a:rPr/>
              <a:t>Not inherently reproducible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Nix package manager (1/2)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Package manager: tool for installing and managing </a:t>
            </a:r>
            <a:r>
              <a:rPr i="1"/>
              <a:t>packages</a:t>
            </a:r>
          </a:p>
          <a:p>
            <a:pPr lvl="0" indent="0" marL="0">
              <a:buNone/>
            </a:pPr>
            <a:r>
              <a:rPr/>
              <a:t>Package: any software (not just R packages)</a:t>
            </a:r>
          </a:p>
          <a:p>
            <a:pPr lvl="0" indent="0" marL="0">
              <a:buNone/>
            </a:pPr>
            <a:r>
              <a:rPr/>
              <a:t>A popular package manager:</a:t>
            </a:r>
          </a:p>
          <a:p>
            <a:pPr lvl="0" indent="0" marL="0">
              <a:buNone/>
            </a:pPr>
            <a:r>
              <a:rPr/>
              <a:t>. . .</a:t>
            </a:r>
          </a:p>
        </p:txBody>
      </p:sp>
      <p:pic>
        <p:nvPicPr>
          <p:cNvPr descr="img/play_sto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45100" y="203200"/>
            <a:ext cx="17399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Google Play Store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Nix package manager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 ensure reproducibility: R, R packages, and other dependencies must be explicitly managed</a:t>
            </a:r>
          </a:p>
          <a:p>
            <a:pPr lvl="0"/>
            <a:r>
              <a:rPr/>
              <a:t>Nix is a package manager truly focused on reproducible builds</a:t>
            </a:r>
          </a:p>
          <a:p>
            <a:pPr lvl="0"/>
            <a:r>
              <a:rPr/>
              <a:t>Nix manages everything using a single text file (called a Nix expression)!</a:t>
            </a:r>
          </a:p>
          <a:p>
            <a:pPr lvl="0"/>
            <a:r>
              <a:rPr/>
              <a:t>These expressions </a:t>
            </a:r>
            <a:r>
              <a:rPr i="1"/>
              <a:t>always</a:t>
            </a:r>
            <a:r>
              <a:rPr/>
              <a:t> produce exactly the same result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rix: reproducible development environments with Nix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{rix}</a:t>
            </a:r>
            <a:r>
              <a:rPr/>
              <a:t> (</a:t>
            </a:r>
            <a:r>
              <a:rPr>
                <a:hlinkClick r:id="rId2"/>
              </a:rPr>
              <a:t>website</a:t>
            </a:r>
            <a:r>
              <a:rPr/>
              <a:t>) simplifies writing Nix expressions!</a:t>
            </a:r>
          </a:p>
          <a:p>
            <a:pPr lvl="0"/>
            <a:r>
              <a:rPr/>
              <a:t>Just use the provided </a:t>
            </a:r>
            <a:r>
              <a:rPr>
                <a:latin typeface="Courier"/>
              </a:rPr>
              <a:t>rix()</a:t>
            </a:r>
            <a:r>
              <a:rPr/>
              <a:t> function: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(rix)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"2026-09-23"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"dplyr"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"ggplot2"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system_pkgs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git_pkgs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tex_pkgs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"rstudio"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project_path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"."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rix: reproducible development environments with Nix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rix::rix()</a:t>
            </a:r>
            <a:r>
              <a:rPr/>
              <a:t> generates a </a:t>
            </a:r>
            <a:r>
              <a:rPr>
                <a:latin typeface="Courier"/>
              </a:rPr>
              <a:t>default.nix</a:t>
            </a:r>
            <a:r>
              <a:rPr/>
              <a:t> file</a:t>
            </a:r>
          </a:p>
          <a:p>
            <a:pPr lvl="0"/>
            <a:r>
              <a:rPr/>
              <a:t>Build the expressions with </a:t>
            </a:r>
            <a:r>
              <a:rPr>
                <a:latin typeface="Courier"/>
              </a:rPr>
              <a:t>nix-build</a:t>
            </a:r>
            <a:r>
              <a:rPr/>
              <a:t> (in terminal) or </a:t>
            </a:r>
            <a:r>
              <a:rPr>
                <a:latin typeface="Courier"/>
              </a:rPr>
              <a:t>rix::nix_build()</a:t>
            </a:r>
            <a:r>
              <a:rPr/>
              <a:t> from R</a:t>
            </a:r>
          </a:p>
          <a:p>
            <a:pPr lvl="0"/>
            <a:r>
              <a:rPr/>
              <a:t>Access the development environment with </a:t>
            </a:r>
            <a:r>
              <a:rPr>
                <a:latin typeface="Courier"/>
              </a:rPr>
              <a:t>nix-shell</a:t>
            </a:r>
          </a:p>
          <a:p>
            <a:pPr lvl="0"/>
            <a:r>
              <a:rPr/>
              <a:t>Expressions can be generated even without Nix installed (with some limitations)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Polyglot environments with 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rix()</a:t>
            </a:r>
            <a:r>
              <a:rPr/>
              <a:t> supports Python and Julia alongside R: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"2026-01-14"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"tidyr"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"dplyr"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"ggplot2"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"languageserver"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py_conf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py_version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"3.13"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py_pkgs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"polars"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"scikit-learn"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project_path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"."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overwrite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Julia: use </a:t>
            </a:r>
            <a:r>
              <a:rPr>
                <a:latin typeface="Courier"/>
              </a:rPr>
              <a:t>jl_conf = list(jl_version = "1.10", jl_pkgs = c(...))</a:t>
            </a:r>
          </a:p>
          <a:p>
            <a:pPr lvl="0"/>
            <a:r>
              <a:rPr/>
              <a:t>See: </a:t>
            </a:r>
            <a:r>
              <a:rPr>
                <a:latin typeface="Courier"/>
              </a:rPr>
              <a:t>scripts/nix_expressions/02_native_positron_example/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Basics: </a:t>
            </a:r>
            <a:r>
              <a:rPr>
                <a:latin typeface="Courier"/>
              </a:rPr>
              <a:t>scripts/nix_expressions/01_rix_intro/</a:t>
            </a:r>
          </a:p>
          <a:p>
            <a:pPr lvl="0"/>
            <a:r>
              <a:rPr/>
              <a:t>Native VS Code/Positron on Windows: </a:t>
            </a:r>
            <a:r>
              <a:rPr>
                <a:latin typeface="Courier"/>
              </a:rPr>
              <a:t>scripts/nix_expressions/02_native_positron_example/</a:t>
            </a:r>
          </a:p>
          <a:p>
            <a:pPr lvl="0"/>
            <a:r>
              <a:rPr/>
              <a:t>Nix and </a:t>
            </a:r>
            <a:r>
              <a:rPr>
                <a:latin typeface="Courier"/>
              </a:rPr>
              <a:t>{targets}</a:t>
            </a:r>
            <a:r>
              <a:rPr/>
              <a:t>: </a:t>
            </a:r>
            <a:r>
              <a:rPr>
                <a:latin typeface="Courier"/>
              </a:rPr>
              <a:t>scripts/nix_expressions/03_nix_targets_pipeline</a:t>
            </a:r>
          </a:p>
          <a:p>
            <a:pPr lvl="0"/>
            <a:r>
              <a:rPr/>
              <a:t>Nix and Docker: </a:t>
            </a:r>
            <a:r>
              <a:rPr>
                <a:latin typeface="Courier"/>
              </a:rPr>
              <a:t>scripts/nix_expressions/04_docker/</a:t>
            </a:r>
          </a:p>
          <a:p>
            <a:pPr lvl="0"/>
            <a:r>
              <a:rPr/>
              <a:t>Nix and </a:t>
            </a:r>
            <a:r>
              <a:rPr>
                <a:latin typeface="Courier"/>
              </a:rPr>
              <a:t>{shiny}</a:t>
            </a:r>
            <a:r>
              <a:rPr/>
              <a:t>: </a:t>
            </a:r>
            <a:r>
              <a:rPr>
                <a:latin typeface="Courier"/>
              </a:rPr>
              <a:t>scripts/nix_expressions/05_shiny</a:t>
            </a:r>
          </a:p>
          <a:p>
            <a:pPr lvl="0"/>
            <a:r>
              <a:rPr/>
              <a:t>GitHub Actions: </a:t>
            </a:r>
            <a:r>
              <a:rPr>
                <a:hlinkClick r:id="rId2"/>
              </a:rPr>
              <a:t>see here</a:t>
            </a:r>
          </a:p>
          <a:p>
            <a:pPr lvl="0"/>
            <a:r>
              <a:rPr/>
              <a:t>Polyglot pipelines with </a:t>
            </a:r>
            <a:r>
              <a:rPr>
                <a:latin typeface="Courier"/>
              </a:rPr>
              <a:t>{rixpress}</a:t>
            </a:r>
            <a:r>
              <a:rPr/>
              <a:t>: </a:t>
            </a:r>
            <a:r>
              <a:rPr>
                <a:latin typeface="Courier"/>
              </a:rPr>
              <a:t>scripts/rixpress_demo/</a:t>
            </a:r>
          </a:p>
          <a:p>
            <a:pPr lvl="0"/>
            <a:r>
              <a:rPr/>
              <a:t>Polyglot pipelines with </a:t>
            </a:r>
            <a:r>
              <a:rPr b="1"/>
              <a:t>T</a:t>
            </a:r>
            <a:r>
              <a:rPr/>
              <a:t> (bonus): </a:t>
            </a:r>
            <a:r>
              <a:rPr>
                <a:latin typeface="Courier"/>
              </a:rPr>
              <a:t>scripts/t_demo/r_py_xgboost_t/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Polyglot pipelines with </a:t>
            </a:r>
            <a:r>
              <a:rPr>
                <a:latin typeface="Courier"/>
              </a:rPr>
              <a:t>{rixpress}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{rixpress}</a:t>
            </a:r>
            <a:r>
              <a:rPr/>
              <a:t> allows chaining processing steps in R, Python and Julia</a:t>
            </a:r>
          </a:p>
          <a:p>
            <a:pPr lvl="0"/>
            <a:r>
              <a:rPr/>
              <a:t>Uses </a:t>
            </a:r>
            <a:r>
              <a:rPr>
                <a:latin typeface="Courier"/>
              </a:rPr>
              <a:t>{rix}</a:t>
            </a:r>
            <a:r>
              <a:rPr/>
              <a:t> to create a reproducible (via Nix) execution environment for the pipeline</a:t>
            </a:r>
          </a:p>
          <a:p>
            <a:pPr lvl="0"/>
            <a:r>
              <a:rPr/>
              <a:t>Each pipeline step is a </a:t>
            </a:r>
            <a:r>
              <a:rPr b="1"/>
              <a:t>Nix derivation</a:t>
            </a:r>
          </a:p>
          <a:p>
            <a:pPr lvl="0"/>
            <a:r>
              <a:rPr/>
              <a:t>Data transfer: automatic via </a:t>
            </a:r>
            <a:r>
              <a:rPr>
                <a:latin typeface="Courier"/>
              </a:rPr>
              <a:t>reticulate</a:t>
            </a:r>
            <a:r>
              <a:rPr/>
              <a:t> or universal format (JSON)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example of a polyglot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rxp_py_file</a:t>
            </a:r>
            <a:r>
              <a:rPr>
                <a:solidFill>
                  <a:srgbClr val="003B4F"/>
                </a:solidFill>
                <a:latin typeface="Courier"/>
              </a:rPr>
              <a:t>(…),    </a:t>
            </a:r>
            <a:r>
              <a:rPr>
                <a:solidFill>
                  <a:srgbClr val="5E5E5E"/>
                </a:solidFill>
                <a:latin typeface="Courier"/>
              </a:rPr>
              <a:t># Read a CSV with Python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</a:t>
            </a:r>
            <a:r>
              <a:rPr>
                <a:solidFill>
                  <a:srgbClr val="003B4F"/>
                </a:solidFill>
                <a:latin typeface="Courier"/>
              </a:rPr>
              <a:t>(…),         </a:t>
            </a:r>
            <a:r>
              <a:rPr>
                <a:solidFill>
                  <a:srgbClr val="5E5E5E"/>
                </a:solidFill>
                <a:latin typeface="Courier"/>
              </a:rPr>
              <a:t># Filter with Polars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rxp_py2r</a:t>
            </a:r>
            <a:r>
              <a:rPr>
                <a:solidFill>
                  <a:srgbClr val="003B4F"/>
                </a:solidFill>
                <a:latin typeface="Courier"/>
              </a:rPr>
              <a:t>(…),       </a:t>
            </a:r>
            <a:r>
              <a:rPr>
                <a:solidFill>
                  <a:srgbClr val="5E5E5E"/>
                </a:solidFill>
                <a:latin typeface="Courier"/>
              </a:rPr>
              <a:t># Python → R transfer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rxp_r</a:t>
            </a:r>
            <a:r>
              <a:rPr>
                <a:solidFill>
                  <a:srgbClr val="003B4F"/>
                </a:solidFill>
                <a:latin typeface="Courier"/>
              </a:rPr>
              <a:t>(…),          </a:t>
            </a:r>
            <a:r>
              <a:rPr>
                <a:solidFill>
                  <a:srgbClr val="5E5E5E"/>
                </a:solidFill>
                <a:latin typeface="Courier"/>
              </a:rPr>
              <a:t># Transformation in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rxp_r2py</a:t>
            </a:r>
            <a:r>
              <a:rPr>
                <a:solidFill>
                  <a:srgbClr val="003B4F"/>
                </a:solidFill>
                <a:latin typeface="Courier"/>
              </a:rPr>
              <a:t>(…),       </a:t>
            </a:r>
            <a:r>
              <a:rPr>
                <a:solidFill>
                  <a:srgbClr val="5E5E5E"/>
                </a:solidFill>
                <a:latin typeface="Courier"/>
              </a:rPr>
              <a:t># R → Python transfer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</a:t>
            </a:r>
            <a:r>
              <a:rPr>
                <a:solidFill>
                  <a:srgbClr val="003B4F"/>
                </a:solidFill>
                <a:latin typeface="Courier"/>
              </a:rPr>
              <a:t>(…),         </a:t>
            </a:r>
            <a:r>
              <a:rPr>
                <a:solidFill>
                  <a:srgbClr val="5E5E5E"/>
                </a:solidFill>
                <a:latin typeface="Courier"/>
              </a:rPr>
              <a:t># Another Python step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rxp_py2r</a:t>
            </a:r>
            <a:r>
              <a:rPr>
                <a:solidFill>
                  <a:srgbClr val="003B4F"/>
                </a:solidFill>
                <a:latin typeface="Courier"/>
              </a:rPr>
              <a:t>(…),       </a:t>
            </a:r>
            <a:r>
              <a:rPr>
                <a:solidFill>
                  <a:srgbClr val="5E5E5E"/>
                </a:solidFill>
                <a:latin typeface="Courier"/>
              </a:rPr>
              <a:t># Back to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rxp_r</a:t>
            </a:r>
            <a:r>
              <a:rPr>
                <a:solidFill>
                  <a:srgbClr val="003B4F"/>
                </a:solidFill>
                <a:latin typeface="Courier"/>
              </a:rPr>
              <a:t>(…)           </a:t>
            </a:r>
            <a:r>
              <a:rPr>
                <a:solidFill>
                  <a:srgbClr val="5E5E5E"/>
                </a:solidFill>
                <a:latin typeface="Courier"/>
              </a:rPr>
              <a:t># Final step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rixpress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/>
            <a:r>
              <a:rPr/>
              <a:t>Each step is named and typed (</a:t>
            </a:r>
            <a:r>
              <a:rPr>
                <a:latin typeface="Courier"/>
              </a:rPr>
              <a:t>py</a:t>
            </a:r>
            <a:r>
              <a:rPr/>
              <a:t>, </a:t>
            </a:r>
            <a:r>
              <a:rPr>
                <a:latin typeface="Courier"/>
              </a:rPr>
              <a:t>r</a:t>
            </a:r>
            <a:r>
              <a:rPr/>
              <a:t>, </a:t>
            </a:r>
            <a:r>
              <a:rPr>
                <a:latin typeface="Courier"/>
              </a:rPr>
              <a:t>r2py</a:t>
            </a:r>
            <a:r>
              <a:rPr/>
              <a:t>, etc.)</a:t>
            </a:r>
          </a:p>
          <a:p>
            <a:pPr lvl="0"/>
            <a:r>
              <a:rPr/>
              <a:t>Ability to add files (</a:t>
            </a:r>
            <a:r>
              <a:rPr>
                <a:latin typeface="Courier"/>
              </a:rPr>
              <a:t>functions.R</a:t>
            </a:r>
            <a:r>
              <a:rPr/>
              <a:t>, images…)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learn more about rixpress: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GitHub Repository</a:t>
            </a:r>
          </a:p>
          <a:p>
            <a:pPr lvl="0"/>
            <a:r>
              <a:rPr>
                <a:hlinkClick r:id="rId3"/>
              </a:rPr>
              <a:t>Website</a:t>
            </a:r>
          </a:p>
          <a:p>
            <a:pPr lvl="0"/>
            <a:r>
              <a:rPr>
                <a:hlinkClick r:id="rId4"/>
              </a:rPr>
              <a:t>Repository of demos</a:t>
            </a:r>
          </a:p>
          <a:p>
            <a:pPr lvl="0"/>
            <a:r>
              <a:rPr/>
              <a:t>Local demo in this repo: </a:t>
            </a:r>
            <a:r>
              <a:rPr>
                <a:latin typeface="Courier"/>
              </a:rPr>
              <a:t>scripts/rixpress_demo/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If time allows…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Bonus: T, a new DSL for polyglot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Reproducibility is often an afterthought, with ad-hoc tools</a:t>
            </a:r>
          </a:p>
          <a:p>
            <a:pPr lvl="0"/>
            <a:r>
              <a:rPr/>
              <a:t>Nix eases the pain, but humans have to play ball! (biggest challenge)</a:t>
            </a:r>
          </a:p>
          <a:p>
            <a:pPr lvl="0"/>
            <a:r>
              <a:rPr/>
              <a:t>What could a “reproducible by design” language look like?</a:t>
            </a:r>
          </a:p>
          <a:p>
            <a:pPr lvl="0"/>
            <a:r>
              <a:rPr/>
              <a:t>This is T, a language whose package manager is Nix and pipelines are first-class citizens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 is reproducible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new T project is a Nix project: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nix shell github:b-rodrigues/tlang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 init </a:t>
            </a:r>
            <a:r>
              <a:rPr>
                <a:solidFill>
                  <a:srgbClr val="657422"/>
                </a:solidFill>
                <a:latin typeface="Courier"/>
              </a:rPr>
              <a:t>--project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 is reproducible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my_analysis/
├── tproject.toml       # Project configuration and dependencies
├── flake.nix           # Reproducible environment definition
├── README.md           # Project overview
├── AGENTS.md           # Onboarding guide for AI Agents
├── T-LANGUAGE-REFERENCE.md # Tiered language reference for LLMs (git-ignored)
├── src/
│   └── pipeline.t      # Your main analysis script
├── data/               # Place your raw data files here
├── outputs/            # Output directory for results
└── tests/              # Unit tests for your analysis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 is reproducible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Add R, Python or Julia dependencies to </a:t>
            </a:r>
            <a:r>
              <a:rPr>
                <a:latin typeface="Courier"/>
              </a:rPr>
              <a:t>tproject.toml</a:t>
            </a:r>
          </a:p>
          <a:p>
            <a:pPr lvl="0"/>
            <a:r>
              <a:rPr/>
              <a:t>Run </a:t>
            </a:r>
            <a:r>
              <a:rPr>
                <a:latin typeface="Courier"/>
              </a:rPr>
              <a:t>t update</a:t>
            </a:r>
          </a:p>
          <a:p>
            <a:pPr lvl="0"/>
            <a:r>
              <a:rPr/>
              <a:t>Exit the temporary shell and run </a:t>
            </a:r>
            <a:r>
              <a:rPr>
                <a:latin typeface="Courier"/>
              </a:rPr>
              <a:t>nix develop</a:t>
            </a:r>
          </a:p>
          <a:p>
            <a:pPr lvl="0"/>
            <a:r>
              <a:rPr/>
              <a:t>Environment is set up, ready to use!</a:t>
            </a:r>
          </a:p>
          <a:p>
            <a:pPr lvl="0"/>
            <a:r>
              <a:rPr/>
              <a:t>What pipelines look like: </a:t>
            </a:r>
            <a:r>
              <a:rPr>
                <a:hlinkClick r:id="rId2"/>
              </a:rPr>
              <a:t>GitHub repo</a:t>
            </a:r>
            <a:r>
              <a:rPr/>
              <a:t> or local demo </a:t>
            </a:r>
            <a:r>
              <a:rPr>
                <a:latin typeface="Courier"/>
              </a:rPr>
              <a:t>scripts/t_demo/r_py_xgboost_t/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a new language in 2026?!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Learning a new language just for pipelines? Never!!</a:t>
            </a:r>
          </a:p>
          <a:p>
            <a:pPr lvl="0"/>
            <a:r>
              <a:rPr/>
              <a:t>T is built to be </a:t>
            </a:r>
            <a:r>
              <a:rPr i="1"/>
              <a:t>llm-friendly</a:t>
            </a:r>
          </a:p>
          <a:p>
            <a:pPr lvl="0"/>
            <a:r>
              <a:rPr/>
              <a:t>Projects ship </a:t>
            </a:r>
            <a:r>
              <a:rPr>
                <a:latin typeface="Courier"/>
              </a:rPr>
              <a:t>AGENTS.md</a:t>
            </a:r>
            <a:r>
              <a:rPr/>
              <a:t>, </a:t>
            </a:r>
            <a:r>
              <a:rPr>
                <a:latin typeface="Courier"/>
              </a:rPr>
              <a:t>T-LANGUAGE-REFERENCE.md</a:t>
            </a:r>
            <a:r>
              <a:rPr/>
              <a:t> and </a:t>
            </a:r>
            <a:r>
              <a:rPr>
                <a:latin typeface="Courier"/>
              </a:rPr>
              <a:t>src/pipeline.t</a:t>
            </a:r>
            <a:r>
              <a:rPr/>
              <a:t> itself is a cheatsheet</a:t>
            </a:r>
          </a:p>
          <a:p>
            <a:pPr lvl="0"/>
            <a:r>
              <a:rPr/>
              <a:t>LLMs should be able to wire your project using T without much issue!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Caveat Emptor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a 100% vibe-coded side-project by yours truly…</a:t>
            </a:r>
          </a:p>
          <a:p>
            <a:pPr lvl="0"/>
            <a:r>
              <a:rPr/>
              <a:t>…but thoroughly tested (2000+ unit tests and 60+ end-to-end tests)</a:t>
            </a:r>
          </a:p>
          <a:p>
            <a:pPr lvl="0"/>
            <a:r>
              <a:rPr/>
              <a:t>I wanted to stress-test the idea of a “reproducible by design” language</a:t>
            </a:r>
          </a:p>
          <a:p>
            <a:pPr lvl="0"/>
            <a:r>
              <a:rPr/>
              <a:t>Challenges: input/output between languages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did I build 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100% LLM generated Ocaml code</a:t>
            </a:r>
          </a:p>
          <a:p>
            <a:pPr lvl="0"/>
            <a:r>
              <a:rPr/>
              <a:t>Start with a specification doc</a:t>
            </a:r>
          </a:p>
          <a:p>
            <a:pPr lvl="0"/>
            <a:r>
              <a:rPr/>
              <a:t>Keep brainstorming, refining…</a:t>
            </a:r>
          </a:p>
          <a:p>
            <a:pPr lvl="0"/>
            <a:r>
              <a:rPr/>
              <a:t>Give the doc to an LLM</a:t>
            </a:r>
          </a:p>
          <a:p>
            <a:pPr lvl="0"/>
            <a:r>
              <a:rPr/>
              <a:t>Let another LLM review the work</a:t>
            </a:r>
          </a:p>
          <a:p>
            <a:pPr lvl="0"/>
            <a:r>
              <a:rPr/>
              <a:t>Implement and review tests</a:t>
            </a:r>
          </a:p>
          <a:p>
            <a:pPr lvl="0"/>
            <a:r>
              <a:rPr/>
              <a:t>Repeat!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 me if you have questions:</a:t>
            </a:r>
          </a:p>
          <a:p>
            <a:pPr lvl="0"/>
            <a:r>
              <a:rPr/>
              <a:t>bruno@brodrigues.co</a:t>
            </a:r>
          </a:p>
          <a:p>
            <a:pPr lvl="0"/>
            <a:r>
              <a:rPr/>
              <a:t>Twitter: </a:t>
            </a:r>
            <a:r>
              <a:rPr>
                <a:hlinkClick r:id="rId2"/>
              </a:rPr>
              <a:t>@brodriguesco</a:t>
            </a:r>
          </a:p>
          <a:p>
            <a:pPr lvl="0"/>
            <a:r>
              <a:rPr/>
              <a:t>Mastodon: </a:t>
            </a:r>
            <a:r>
              <a:rPr>
                <a:hlinkClick r:id="rId3"/>
              </a:rPr>
              <a:t>@brodriguesco@fosstodon.org</a:t>
            </a:r>
          </a:p>
          <a:p>
            <a:pPr lvl="0"/>
            <a:r>
              <a:rPr/>
              <a:t>Blog: </a:t>
            </a:r>
            <a:r>
              <a:rPr>
                <a:hlinkClick r:id="rId4"/>
              </a:rPr>
              <a:t>www.brodrigues.co</a:t>
            </a:r>
          </a:p>
          <a:p>
            <a:pPr lvl="0"/>
            <a:r>
              <a:rPr/>
              <a:t>Book: </a:t>
            </a:r>
            <a:r>
              <a:rPr>
                <a:hlinkClick r:id="rId5"/>
              </a:rPr>
              <a:t>www.raps-with-r.dev</a:t>
            </a:r>
          </a:p>
          <a:p>
            <a:pPr lvl="0"/>
            <a:r>
              <a:rPr/>
              <a:t>rix: </a:t>
            </a:r>
            <a:r>
              <a:rPr>
                <a:hlinkClick r:id="rId6"/>
              </a:rPr>
              <a:t>https://docs.ropensci.org/rix</a:t>
            </a:r>
          </a:p>
          <a:p>
            <a:pPr lvl="0"/>
            <a:r>
              <a:rPr/>
              <a:t>rixpress: </a:t>
            </a:r>
            <a:r>
              <a:rPr>
                <a:hlinkClick r:id="rId7"/>
              </a:rPr>
              <a:t>https://b-rodrigues.github.io/rixpress/</a:t>
            </a:r>
          </a:p>
          <a:p>
            <a:pPr lvl="0"/>
            <a:r>
              <a:rPr/>
              <a:t>T: </a:t>
            </a:r>
            <a:r>
              <a:rPr>
                <a:hlinkClick r:id="rId8"/>
              </a:rPr>
              <a:t>https://tstats-project.org/</a:t>
            </a:r>
            <a:r>
              <a:rPr/>
              <a:t> . . .</a:t>
            </a:r>
          </a:p>
          <a:p>
            <a:pPr lvl="0" indent="0" marL="0">
              <a:buNone/>
            </a:pPr>
            <a:r>
              <a:rPr/>
              <a:t>Thanks!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Practical Introduction to Reproducible R with Nix &amp; rix</dc:title>
  <dc:creator>Bruno Rodrigues</dc:creator>
  <cp:keywords/>
  <dcterms:created xsi:type="dcterms:W3CDTF">1980-01-01T00:00:00Z</dcterms:created>
  <dcterms:modified xsi:type="dcterms:W3CDTF">1980-01-01T00:00:00Z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2026-10-01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R/Pharma 2026 Workshop (Sep 28 – Oct 1) • Conference: Oct 20 – 21</vt:lpwstr>
  </property>
  <property fmtid="{D5CDD505-2E9C-101B-9397-08002B2CF9AE}" pid="12" name="toc-title">
    <vt:lpwstr>Table of contents</vt:lpwstr>
  </property>
</Properties>
</file>